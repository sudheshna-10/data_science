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K Grotesk" charset="1" panose="00000500000000000000"/>
      <p:regular r:id="rId19"/>
    </p:embeddedFont>
    <p:embeddedFont>
      <p:font typeface="HK Grotesk Bold" charset="1" panose="00000800000000000000"/>
      <p:regular r:id="rId20"/>
    </p:embeddedFont>
    <p:embeddedFont>
      <p:font typeface="Questrial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419434" y="-203667"/>
            <a:ext cx="19126868" cy="10942624"/>
          </a:xfrm>
          <a:custGeom>
            <a:avLst/>
            <a:gdLst/>
            <a:ahLst/>
            <a:cxnLst/>
            <a:rect r="r" b="b" t="t" l="l"/>
            <a:pathLst>
              <a:path h="10942624" w="19126868">
                <a:moveTo>
                  <a:pt x="19126868" y="10942624"/>
                </a:moveTo>
                <a:lnTo>
                  <a:pt x="0" y="10942624"/>
                </a:lnTo>
                <a:lnTo>
                  <a:pt x="0" y="0"/>
                </a:lnTo>
                <a:lnTo>
                  <a:pt x="19126868" y="0"/>
                </a:lnTo>
                <a:lnTo>
                  <a:pt x="19126868" y="10942624"/>
                </a:lnTo>
                <a:close/>
              </a:path>
            </a:pathLst>
          </a:custGeom>
          <a:blipFill>
            <a:blip r:embed="rId2"/>
            <a:stretch>
              <a:fillRect l="0" t="-15547" r="0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7843" y="-329706"/>
            <a:ext cx="3720157" cy="3009945"/>
          </a:xfrm>
          <a:custGeom>
            <a:avLst/>
            <a:gdLst/>
            <a:ahLst/>
            <a:cxnLst/>
            <a:rect r="r" b="b" t="t" l="l"/>
            <a:pathLst>
              <a:path h="3009945" w="3720157">
                <a:moveTo>
                  <a:pt x="0" y="0"/>
                </a:moveTo>
                <a:lnTo>
                  <a:pt x="3720157" y="0"/>
                </a:lnTo>
                <a:lnTo>
                  <a:pt x="3720157" y="3009945"/>
                </a:lnTo>
                <a:lnTo>
                  <a:pt x="0" y="3009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4958" y="8729739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92130" y="4463381"/>
            <a:ext cx="11595870" cy="6300423"/>
          </a:xfrm>
          <a:custGeom>
            <a:avLst/>
            <a:gdLst/>
            <a:ahLst/>
            <a:cxnLst/>
            <a:rect r="r" b="b" t="t" l="l"/>
            <a:pathLst>
              <a:path h="6300423" w="11595870">
                <a:moveTo>
                  <a:pt x="0" y="0"/>
                </a:moveTo>
                <a:lnTo>
                  <a:pt x="11595870" y="0"/>
                </a:lnTo>
                <a:lnTo>
                  <a:pt x="11595870" y="6300423"/>
                </a:lnTo>
                <a:lnTo>
                  <a:pt x="0" y="6300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30796" y="3825256"/>
            <a:ext cx="7773690" cy="98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5"/>
              </a:lnSpc>
            </a:pPr>
            <a:r>
              <a:rPr lang="en-US" sz="737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7973" y="2205993"/>
            <a:ext cx="15408216" cy="16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4"/>
              </a:lnSpc>
            </a:pPr>
            <a:r>
              <a:rPr lang="en-US" sz="12093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ML REINFORCEMENT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94958" y="920315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79150" y="5886789"/>
            <a:ext cx="6058769" cy="109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417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NAME   : SUDHESHNA M</a:t>
            </a:r>
          </a:p>
          <a:p>
            <a:pPr algn="l">
              <a:lnSpc>
                <a:spcPts val="421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779150" y="6695580"/>
            <a:ext cx="6058769" cy="5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417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BATCH : JULY-2025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9434" y="-127140"/>
            <a:ext cx="19126868" cy="10942624"/>
          </a:xfrm>
          <a:custGeom>
            <a:avLst/>
            <a:gdLst/>
            <a:ahLst/>
            <a:cxnLst/>
            <a:rect r="r" b="b" t="t" l="l"/>
            <a:pathLst>
              <a:path h="10942624" w="19126868">
                <a:moveTo>
                  <a:pt x="0" y="0"/>
                </a:moveTo>
                <a:lnTo>
                  <a:pt x="19126868" y="0"/>
                </a:lnTo>
                <a:lnTo>
                  <a:pt x="19126868" y="10942623"/>
                </a:lnTo>
                <a:lnTo>
                  <a:pt x="0" y="10942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547" r="0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7843" y="-329706"/>
            <a:ext cx="3720157" cy="3009945"/>
          </a:xfrm>
          <a:custGeom>
            <a:avLst/>
            <a:gdLst/>
            <a:ahLst/>
            <a:cxnLst/>
            <a:rect r="r" b="b" t="t" l="l"/>
            <a:pathLst>
              <a:path h="3009945" w="3720157">
                <a:moveTo>
                  <a:pt x="0" y="0"/>
                </a:moveTo>
                <a:lnTo>
                  <a:pt x="3720157" y="0"/>
                </a:lnTo>
                <a:lnTo>
                  <a:pt x="3720157" y="3009945"/>
                </a:lnTo>
                <a:lnTo>
                  <a:pt x="0" y="3009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4958" y="8096937"/>
            <a:ext cx="3429431" cy="2774721"/>
          </a:xfrm>
          <a:custGeom>
            <a:avLst/>
            <a:gdLst/>
            <a:ahLst/>
            <a:cxnLst/>
            <a:rect r="r" b="b" t="t" l="l"/>
            <a:pathLst>
              <a:path h="2774721" w="3429431">
                <a:moveTo>
                  <a:pt x="3429431" y="2774721"/>
                </a:moveTo>
                <a:lnTo>
                  <a:pt x="0" y="2774721"/>
                </a:lnTo>
                <a:lnTo>
                  <a:pt x="0" y="0"/>
                </a:lnTo>
                <a:lnTo>
                  <a:pt x="3429431" y="0"/>
                </a:lnTo>
                <a:lnTo>
                  <a:pt x="3429431" y="277472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1652" y="6256121"/>
            <a:ext cx="8296348" cy="4507682"/>
          </a:xfrm>
          <a:custGeom>
            <a:avLst/>
            <a:gdLst/>
            <a:ahLst/>
            <a:cxnLst/>
            <a:rect r="r" b="b" t="t" l="l"/>
            <a:pathLst>
              <a:path h="4507682" w="8296348">
                <a:moveTo>
                  <a:pt x="0" y="0"/>
                </a:moveTo>
                <a:lnTo>
                  <a:pt x="8296348" y="0"/>
                </a:lnTo>
                <a:lnTo>
                  <a:pt x="8296348" y="4507683"/>
                </a:lnTo>
                <a:lnTo>
                  <a:pt x="0" y="4507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294958" y="-329706"/>
            <a:ext cx="8296348" cy="4507682"/>
          </a:xfrm>
          <a:custGeom>
            <a:avLst/>
            <a:gdLst/>
            <a:ahLst/>
            <a:cxnLst/>
            <a:rect r="r" b="b" t="t" l="l"/>
            <a:pathLst>
              <a:path h="4507682" w="8296348">
                <a:moveTo>
                  <a:pt x="8296348" y="4507682"/>
                </a:moveTo>
                <a:lnTo>
                  <a:pt x="0" y="4507682"/>
                </a:lnTo>
                <a:lnTo>
                  <a:pt x="0" y="0"/>
                </a:lnTo>
                <a:lnTo>
                  <a:pt x="8296348" y="0"/>
                </a:lnTo>
                <a:lnTo>
                  <a:pt x="8296348" y="450768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3704" y="9484297"/>
            <a:ext cx="3959023" cy="1662790"/>
          </a:xfrm>
          <a:custGeom>
            <a:avLst/>
            <a:gdLst/>
            <a:ahLst/>
            <a:cxnLst/>
            <a:rect r="r" b="b" t="t" l="l"/>
            <a:pathLst>
              <a:path h="1662790" w="3959023">
                <a:moveTo>
                  <a:pt x="0" y="0"/>
                </a:moveTo>
                <a:lnTo>
                  <a:pt x="3959023" y="0"/>
                </a:lnTo>
                <a:lnTo>
                  <a:pt x="3959023" y="1662790"/>
                </a:lnTo>
                <a:lnTo>
                  <a:pt x="0" y="1662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14251" y="-831395"/>
            <a:ext cx="3353592" cy="1408509"/>
          </a:xfrm>
          <a:custGeom>
            <a:avLst/>
            <a:gdLst/>
            <a:ahLst/>
            <a:cxnLst/>
            <a:rect r="r" b="b" t="t" l="l"/>
            <a:pathLst>
              <a:path h="1408509" w="3353592">
                <a:moveTo>
                  <a:pt x="0" y="0"/>
                </a:moveTo>
                <a:lnTo>
                  <a:pt x="3353592" y="0"/>
                </a:lnTo>
                <a:lnTo>
                  <a:pt x="3353592" y="1408509"/>
                </a:lnTo>
                <a:lnTo>
                  <a:pt x="0" y="140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35608" y="1574913"/>
            <a:ext cx="5973033" cy="11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  <a:spcBef>
                <a:spcPct val="0"/>
              </a:spcBef>
            </a:pPr>
            <a:r>
              <a:rPr lang="en-US" b="true" sz="648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35608" y="3104305"/>
            <a:ext cx="8622984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Dataset: Heart Disease 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35608" y="4101776"/>
            <a:ext cx="12300064" cy="289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Objectives: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Understand and clean the raw heart data.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Perform exploratory data analysis to uncover patterns.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Identify whether heart disease or not.</a:t>
            </a:r>
          </a:p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Identify best accuracy of the ML model.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419434" y="-327812"/>
            <a:ext cx="19126868" cy="10942624"/>
          </a:xfrm>
          <a:custGeom>
            <a:avLst/>
            <a:gdLst/>
            <a:ahLst/>
            <a:cxnLst/>
            <a:rect r="r" b="b" t="t" l="l"/>
            <a:pathLst>
              <a:path h="10942624" w="19126868">
                <a:moveTo>
                  <a:pt x="19126868" y="10942624"/>
                </a:moveTo>
                <a:lnTo>
                  <a:pt x="0" y="10942624"/>
                </a:lnTo>
                <a:lnTo>
                  <a:pt x="0" y="0"/>
                </a:lnTo>
                <a:lnTo>
                  <a:pt x="19126868" y="0"/>
                </a:lnTo>
                <a:lnTo>
                  <a:pt x="19126868" y="10942624"/>
                </a:lnTo>
                <a:close/>
              </a:path>
            </a:pathLst>
          </a:custGeom>
          <a:blipFill>
            <a:blip r:embed="rId2"/>
            <a:stretch>
              <a:fillRect l="0" t="-15547" r="0" b="-155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8406" y="3313749"/>
            <a:ext cx="16017539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Age, Sex, ChestPainType, RestingBP, Cholesterol, FastingBS, RestingECG, MaxHR, ExerciseAngina, Oldpeak, ST_Slope, HeartDisease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5876784"/>
            <a:ext cx="8397934" cy="4562878"/>
          </a:xfrm>
          <a:custGeom>
            <a:avLst/>
            <a:gdLst/>
            <a:ahLst/>
            <a:cxnLst/>
            <a:rect r="r" b="b" t="t" l="l"/>
            <a:pathLst>
              <a:path h="4562878" w="8397934">
                <a:moveTo>
                  <a:pt x="8397934" y="0"/>
                </a:moveTo>
                <a:lnTo>
                  <a:pt x="0" y="0"/>
                </a:lnTo>
                <a:lnTo>
                  <a:pt x="0" y="4562878"/>
                </a:lnTo>
                <a:lnTo>
                  <a:pt x="8397934" y="4562878"/>
                </a:lnTo>
                <a:lnTo>
                  <a:pt x="839793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9890066" y="-52789"/>
            <a:ext cx="8397934" cy="4562878"/>
          </a:xfrm>
          <a:custGeom>
            <a:avLst/>
            <a:gdLst/>
            <a:ahLst/>
            <a:cxnLst/>
            <a:rect r="r" b="b" t="t" l="l"/>
            <a:pathLst>
              <a:path h="4562878" w="8397934">
                <a:moveTo>
                  <a:pt x="0" y="4562878"/>
                </a:moveTo>
                <a:lnTo>
                  <a:pt x="8397934" y="4562878"/>
                </a:lnTo>
                <a:lnTo>
                  <a:pt x="8397934" y="0"/>
                </a:lnTo>
                <a:lnTo>
                  <a:pt x="0" y="0"/>
                </a:lnTo>
                <a:lnTo>
                  <a:pt x="0" y="456287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13725" y="-732903"/>
            <a:ext cx="2884850" cy="3005052"/>
          </a:xfrm>
          <a:custGeom>
            <a:avLst/>
            <a:gdLst/>
            <a:ahLst/>
            <a:cxnLst/>
            <a:rect r="r" b="b" t="t" l="l"/>
            <a:pathLst>
              <a:path h="3005052" w="2884850">
                <a:moveTo>
                  <a:pt x="0" y="0"/>
                </a:moveTo>
                <a:lnTo>
                  <a:pt x="2884850" y="0"/>
                </a:lnTo>
                <a:lnTo>
                  <a:pt x="2884850" y="3005052"/>
                </a:lnTo>
                <a:lnTo>
                  <a:pt x="0" y="3005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263909" y="8668883"/>
            <a:ext cx="2304070" cy="2299881"/>
          </a:xfrm>
          <a:custGeom>
            <a:avLst/>
            <a:gdLst/>
            <a:ahLst/>
            <a:cxnLst/>
            <a:rect r="r" b="b" t="t" l="l"/>
            <a:pathLst>
              <a:path h="2299881" w="2304070">
                <a:moveTo>
                  <a:pt x="2304071" y="0"/>
                </a:moveTo>
                <a:lnTo>
                  <a:pt x="0" y="0"/>
                </a:lnTo>
                <a:lnTo>
                  <a:pt x="0" y="2299881"/>
                </a:lnTo>
                <a:lnTo>
                  <a:pt x="2304071" y="2299881"/>
                </a:lnTo>
                <a:lnTo>
                  <a:pt x="230407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67081" y="2148324"/>
            <a:ext cx="7756780" cy="106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5"/>
              </a:lnSpc>
              <a:spcBef>
                <a:spcPct val="0"/>
              </a:spcBef>
            </a:pPr>
            <a:r>
              <a:rPr lang="en-US" sz="623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Understanding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545623" y="9170769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5"/>
                </a:lnTo>
                <a:lnTo>
                  <a:pt x="0" y="6480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98406" y="5239026"/>
            <a:ext cx="4417227" cy="405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Understanding: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Import dataset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head()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info()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Shape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describe()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columns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9434" y="-178820"/>
            <a:ext cx="19126868" cy="10942624"/>
          </a:xfrm>
          <a:custGeom>
            <a:avLst/>
            <a:gdLst/>
            <a:ahLst/>
            <a:cxnLst/>
            <a:rect r="r" b="b" t="t" l="l"/>
            <a:pathLst>
              <a:path h="10942624" w="19126868">
                <a:moveTo>
                  <a:pt x="0" y="0"/>
                </a:moveTo>
                <a:lnTo>
                  <a:pt x="19126868" y="0"/>
                </a:lnTo>
                <a:lnTo>
                  <a:pt x="19126868" y="10942624"/>
                </a:lnTo>
                <a:lnTo>
                  <a:pt x="0" y="10942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547" r="0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2354" y="-329706"/>
            <a:ext cx="2785646" cy="2253841"/>
          </a:xfrm>
          <a:custGeom>
            <a:avLst/>
            <a:gdLst/>
            <a:ahLst/>
            <a:cxnLst/>
            <a:rect r="r" b="b" t="t" l="l"/>
            <a:pathLst>
              <a:path h="2253841" w="2785646">
                <a:moveTo>
                  <a:pt x="0" y="0"/>
                </a:moveTo>
                <a:lnTo>
                  <a:pt x="2785646" y="0"/>
                </a:lnTo>
                <a:lnTo>
                  <a:pt x="2785646" y="2253841"/>
                </a:lnTo>
                <a:lnTo>
                  <a:pt x="0" y="2253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4958" y="8509962"/>
            <a:ext cx="2918949" cy="2361696"/>
          </a:xfrm>
          <a:custGeom>
            <a:avLst/>
            <a:gdLst/>
            <a:ahLst/>
            <a:cxnLst/>
            <a:rect r="r" b="b" t="t" l="l"/>
            <a:pathLst>
              <a:path h="2361696" w="2918949">
                <a:moveTo>
                  <a:pt x="2918949" y="2361696"/>
                </a:moveTo>
                <a:lnTo>
                  <a:pt x="0" y="2361696"/>
                </a:lnTo>
                <a:lnTo>
                  <a:pt x="0" y="0"/>
                </a:lnTo>
                <a:lnTo>
                  <a:pt x="2918949" y="0"/>
                </a:lnTo>
                <a:lnTo>
                  <a:pt x="2918949" y="236169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1652" y="6256121"/>
            <a:ext cx="8296348" cy="4507682"/>
          </a:xfrm>
          <a:custGeom>
            <a:avLst/>
            <a:gdLst/>
            <a:ahLst/>
            <a:cxnLst/>
            <a:rect r="r" b="b" t="t" l="l"/>
            <a:pathLst>
              <a:path h="4507682" w="8296348">
                <a:moveTo>
                  <a:pt x="0" y="0"/>
                </a:moveTo>
                <a:lnTo>
                  <a:pt x="8296348" y="0"/>
                </a:lnTo>
                <a:lnTo>
                  <a:pt x="8296348" y="4507683"/>
                </a:lnTo>
                <a:lnTo>
                  <a:pt x="0" y="4507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294958" y="-329706"/>
            <a:ext cx="8296348" cy="4507682"/>
          </a:xfrm>
          <a:custGeom>
            <a:avLst/>
            <a:gdLst/>
            <a:ahLst/>
            <a:cxnLst/>
            <a:rect r="r" b="b" t="t" l="l"/>
            <a:pathLst>
              <a:path h="4507682" w="8296348">
                <a:moveTo>
                  <a:pt x="8296348" y="4507682"/>
                </a:moveTo>
                <a:lnTo>
                  <a:pt x="0" y="4507682"/>
                </a:lnTo>
                <a:lnTo>
                  <a:pt x="0" y="0"/>
                </a:lnTo>
                <a:lnTo>
                  <a:pt x="8296348" y="0"/>
                </a:lnTo>
                <a:lnTo>
                  <a:pt x="8296348" y="450768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3704" y="9484297"/>
            <a:ext cx="3959023" cy="1662790"/>
          </a:xfrm>
          <a:custGeom>
            <a:avLst/>
            <a:gdLst/>
            <a:ahLst/>
            <a:cxnLst/>
            <a:rect r="r" b="b" t="t" l="l"/>
            <a:pathLst>
              <a:path h="1662790" w="3959023">
                <a:moveTo>
                  <a:pt x="0" y="0"/>
                </a:moveTo>
                <a:lnTo>
                  <a:pt x="3959023" y="0"/>
                </a:lnTo>
                <a:lnTo>
                  <a:pt x="3959023" y="1662790"/>
                </a:lnTo>
                <a:lnTo>
                  <a:pt x="0" y="1662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14251" y="-831395"/>
            <a:ext cx="3353592" cy="1408509"/>
          </a:xfrm>
          <a:custGeom>
            <a:avLst/>
            <a:gdLst/>
            <a:ahLst/>
            <a:cxnLst/>
            <a:rect r="r" b="b" t="t" l="l"/>
            <a:pathLst>
              <a:path h="1408509" w="3353592">
                <a:moveTo>
                  <a:pt x="0" y="0"/>
                </a:moveTo>
                <a:lnTo>
                  <a:pt x="3353592" y="0"/>
                </a:lnTo>
                <a:lnTo>
                  <a:pt x="3353592" y="1408509"/>
                </a:lnTo>
                <a:lnTo>
                  <a:pt x="0" y="140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23991" y="2002636"/>
            <a:ext cx="5973033" cy="11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  <a:spcBef>
                <a:spcPct val="0"/>
              </a:spcBef>
            </a:pPr>
            <a:r>
              <a:rPr lang="en-US" sz="648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Cleaning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48892" y="3741085"/>
            <a:ext cx="12628375" cy="405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No major missing values were found.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Converted categorical vari</a:t>
            </a: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ables like ‘cp’, ‘thal’, and ‘slope’ to numerical using Label Encoding.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Checked for and removed duplicates if any.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Standardized feature values using StandardScaler for consistent model performance.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9434" y="-626932"/>
            <a:ext cx="19126868" cy="10942624"/>
          </a:xfrm>
          <a:custGeom>
            <a:avLst/>
            <a:gdLst/>
            <a:ahLst/>
            <a:cxnLst/>
            <a:rect r="r" b="b" t="t" l="l"/>
            <a:pathLst>
              <a:path h="10942624" w="19126868">
                <a:moveTo>
                  <a:pt x="0" y="0"/>
                </a:moveTo>
                <a:lnTo>
                  <a:pt x="19126868" y="0"/>
                </a:lnTo>
                <a:lnTo>
                  <a:pt x="19126868" y="10942624"/>
                </a:lnTo>
                <a:lnTo>
                  <a:pt x="0" y="10942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547" r="0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2354" y="-329706"/>
            <a:ext cx="2785646" cy="2253841"/>
          </a:xfrm>
          <a:custGeom>
            <a:avLst/>
            <a:gdLst/>
            <a:ahLst/>
            <a:cxnLst/>
            <a:rect r="r" b="b" t="t" l="l"/>
            <a:pathLst>
              <a:path h="2253841" w="2785646">
                <a:moveTo>
                  <a:pt x="0" y="0"/>
                </a:moveTo>
                <a:lnTo>
                  <a:pt x="2785646" y="0"/>
                </a:lnTo>
                <a:lnTo>
                  <a:pt x="2785646" y="2253841"/>
                </a:lnTo>
                <a:lnTo>
                  <a:pt x="0" y="2253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4958" y="8509962"/>
            <a:ext cx="2918949" cy="2361696"/>
          </a:xfrm>
          <a:custGeom>
            <a:avLst/>
            <a:gdLst/>
            <a:ahLst/>
            <a:cxnLst/>
            <a:rect r="r" b="b" t="t" l="l"/>
            <a:pathLst>
              <a:path h="2361696" w="2918949">
                <a:moveTo>
                  <a:pt x="2918949" y="2361696"/>
                </a:moveTo>
                <a:lnTo>
                  <a:pt x="0" y="2361696"/>
                </a:lnTo>
                <a:lnTo>
                  <a:pt x="0" y="0"/>
                </a:lnTo>
                <a:lnTo>
                  <a:pt x="2918949" y="0"/>
                </a:lnTo>
                <a:lnTo>
                  <a:pt x="2918949" y="236169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1652" y="6256121"/>
            <a:ext cx="8296348" cy="4507682"/>
          </a:xfrm>
          <a:custGeom>
            <a:avLst/>
            <a:gdLst/>
            <a:ahLst/>
            <a:cxnLst/>
            <a:rect r="r" b="b" t="t" l="l"/>
            <a:pathLst>
              <a:path h="4507682" w="8296348">
                <a:moveTo>
                  <a:pt x="0" y="0"/>
                </a:moveTo>
                <a:lnTo>
                  <a:pt x="8296348" y="0"/>
                </a:lnTo>
                <a:lnTo>
                  <a:pt x="8296348" y="4507683"/>
                </a:lnTo>
                <a:lnTo>
                  <a:pt x="0" y="4507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294958" y="-329706"/>
            <a:ext cx="8296348" cy="4507682"/>
          </a:xfrm>
          <a:custGeom>
            <a:avLst/>
            <a:gdLst/>
            <a:ahLst/>
            <a:cxnLst/>
            <a:rect r="r" b="b" t="t" l="l"/>
            <a:pathLst>
              <a:path h="4507682" w="8296348">
                <a:moveTo>
                  <a:pt x="8296348" y="4507682"/>
                </a:moveTo>
                <a:lnTo>
                  <a:pt x="0" y="4507682"/>
                </a:lnTo>
                <a:lnTo>
                  <a:pt x="0" y="0"/>
                </a:lnTo>
                <a:lnTo>
                  <a:pt x="8296348" y="0"/>
                </a:lnTo>
                <a:lnTo>
                  <a:pt x="8296348" y="450768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3704" y="9484297"/>
            <a:ext cx="3959023" cy="1662790"/>
          </a:xfrm>
          <a:custGeom>
            <a:avLst/>
            <a:gdLst/>
            <a:ahLst/>
            <a:cxnLst/>
            <a:rect r="r" b="b" t="t" l="l"/>
            <a:pathLst>
              <a:path h="1662790" w="3959023">
                <a:moveTo>
                  <a:pt x="0" y="0"/>
                </a:moveTo>
                <a:lnTo>
                  <a:pt x="3959023" y="0"/>
                </a:lnTo>
                <a:lnTo>
                  <a:pt x="3959023" y="1662790"/>
                </a:lnTo>
                <a:lnTo>
                  <a:pt x="0" y="1662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14251" y="-831395"/>
            <a:ext cx="3353592" cy="1408509"/>
          </a:xfrm>
          <a:custGeom>
            <a:avLst/>
            <a:gdLst/>
            <a:ahLst/>
            <a:cxnLst/>
            <a:rect r="r" b="b" t="t" l="l"/>
            <a:pathLst>
              <a:path h="1408509" w="3353592">
                <a:moveTo>
                  <a:pt x="0" y="0"/>
                </a:moveTo>
                <a:lnTo>
                  <a:pt x="3353592" y="0"/>
                </a:lnTo>
                <a:lnTo>
                  <a:pt x="3353592" y="1408509"/>
                </a:lnTo>
                <a:lnTo>
                  <a:pt x="0" y="140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04679" y="1800310"/>
            <a:ext cx="6454555" cy="11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  <a:spcBef>
                <a:spcPct val="0"/>
              </a:spcBef>
            </a:pPr>
            <a:r>
              <a:rPr lang="en-US" sz="648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Outlier Handling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04679" y="3129273"/>
            <a:ext cx="10025902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</a:t>
            </a: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entification: Outliers in numerical columns were identified using visualization.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04679" y="4502778"/>
            <a:ext cx="8622984" cy="231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Visualization: Box Plot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Statistical Method: 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Lower bound = Q</a:t>
            </a: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1</a:t>
            </a: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​−1.5×IQR 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Upper bound = Q</a:t>
            </a: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3</a:t>
            </a: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​+1.5×IQR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4958" y="920315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76500" y="-329706"/>
            <a:ext cx="2611500" cy="2112941"/>
          </a:xfrm>
          <a:custGeom>
            <a:avLst/>
            <a:gdLst/>
            <a:ahLst/>
            <a:cxnLst/>
            <a:rect r="r" b="b" t="t" l="l"/>
            <a:pathLst>
              <a:path h="2112941" w="2611500">
                <a:moveTo>
                  <a:pt x="0" y="0"/>
                </a:moveTo>
                <a:lnTo>
                  <a:pt x="2611500" y="0"/>
                </a:lnTo>
                <a:lnTo>
                  <a:pt x="2611500" y="2112940"/>
                </a:lnTo>
                <a:lnTo>
                  <a:pt x="0" y="2112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4958" y="8729739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28127" y="4808476"/>
            <a:ext cx="10472702" cy="5690168"/>
          </a:xfrm>
          <a:custGeom>
            <a:avLst/>
            <a:gdLst/>
            <a:ahLst/>
            <a:cxnLst/>
            <a:rect r="r" b="b" t="t" l="l"/>
            <a:pathLst>
              <a:path h="5690168" w="10472702">
                <a:moveTo>
                  <a:pt x="0" y="0"/>
                </a:moveTo>
                <a:lnTo>
                  <a:pt x="10472702" y="0"/>
                </a:lnTo>
                <a:lnTo>
                  <a:pt x="10472702" y="5690168"/>
                </a:lnTo>
                <a:lnTo>
                  <a:pt x="0" y="569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3603" y="1659409"/>
            <a:ext cx="12189049" cy="11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  <a:spcBef>
                <a:spcPct val="0"/>
              </a:spcBef>
            </a:pPr>
            <a:r>
              <a:rPr lang="en-US" sz="648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Visualization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33603" y="3057847"/>
            <a:ext cx="10045664" cy="231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Importance: 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Visualizations make</a:t>
            </a: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complex data patterns</a:t>
            </a: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easily understandable. 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They are essential for identifying trends, outliers.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3603" y="5508422"/>
            <a:ext cx="10045664" cy="405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Types of visualization: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Box Plot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Violin Plot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Bar Plot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Scatter Plot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Pair Plot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Line Plot, etc ...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94958" y="8717077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4958" y="704673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6500" y="-329706"/>
            <a:ext cx="2611500" cy="2112941"/>
          </a:xfrm>
          <a:custGeom>
            <a:avLst/>
            <a:gdLst/>
            <a:ahLst/>
            <a:cxnLst/>
            <a:rect r="r" b="b" t="t" l="l"/>
            <a:pathLst>
              <a:path h="2112941" w="2611500">
                <a:moveTo>
                  <a:pt x="0" y="0"/>
                </a:moveTo>
                <a:lnTo>
                  <a:pt x="2611500" y="0"/>
                </a:lnTo>
                <a:lnTo>
                  <a:pt x="2611500" y="2112940"/>
                </a:lnTo>
                <a:lnTo>
                  <a:pt x="0" y="211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28127" y="4808476"/>
            <a:ext cx="10472702" cy="5690168"/>
          </a:xfrm>
          <a:custGeom>
            <a:avLst/>
            <a:gdLst/>
            <a:ahLst/>
            <a:cxnLst/>
            <a:rect r="r" b="b" t="t" l="l"/>
            <a:pathLst>
              <a:path h="5690168" w="10472702">
                <a:moveTo>
                  <a:pt x="0" y="0"/>
                </a:moveTo>
                <a:lnTo>
                  <a:pt x="10472702" y="0"/>
                </a:lnTo>
                <a:lnTo>
                  <a:pt x="10472702" y="5690168"/>
                </a:lnTo>
                <a:lnTo>
                  <a:pt x="0" y="569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87437" y="1028700"/>
            <a:ext cx="5540690" cy="4025076"/>
          </a:xfrm>
          <a:custGeom>
            <a:avLst/>
            <a:gdLst/>
            <a:ahLst/>
            <a:cxnLst/>
            <a:rect r="r" b="b" t="t" l="l"/>
            <a:pathLst>
              <a:path h="4025076" w="5540690">
                <a:moveTo>
                  <a:pt x="0" y="0"/>
                </a:moveTo>
                <a:lnTo>
                  <a:pt x="5540690" y="0"/>
                </a:lnTo>
                <a:lnTo>
                  <a:pt x="5540690" y="4025076"/>
                </a:lnTo>
                <a:lnTo>
                  <a:pt x="0" y="40250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38435" y="5492010"/>
            <a:ext cx="5689692" cy="4015267"/>
          </a:xfrm>
          <a:custGeom>
            <a:avLst/>
            <a:gdLst/>
            <a:ahLst/>
            <a:cxnLst/>
            <a:rect r="r" b="b" t="t" l="l"/>
            <a:pathLst>
              <a:path h="4015267" w="5689692">
                <a:moveTo>
                  <a:pt x="0" y="0"/>
                </a:moveTo>
                <a:lnTo>
                  <a:pt x="5689692" y="0"/>
                </a:lnTo>
                <a:lnTo>
                  <a:pt x="5689692" y="4015267"/>
                </a:lnTo>
                <a:lnTo>
                  <a:pt x="0" y="4015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90" r="0" b="-169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9286" y="2607952"/>
            <a:ext cx="7069957" cy="4401048"/>
          </a:xfrm>
          <a:custGeom>
            <a:avLst/>
            <a:gdLst/>
            <a:ahLst/>
            <a:cxnLst/>
            <a:rect r="r" b="b" t="t" l="l"/>
            <a:pathLst>
              <a:path h="4401048" w="7069957">
                <a:moveTo>
                  <a:pt x="0" y="0"/>
                </a:moveTo>
                <a:lnTo>
                  <a:pt x="7069956" y="0"/>
                </a:lnTo>
                <a:lnTo>
                  <a:pt x="7069956" y="4401049"/>
                </a:lnTo>
                <a:lnTo>
                  <a:pt x="0" y="44010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94958" y="8607640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4958" y="1028700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6500" y="-329706"/>
            <a:ext cx="2611500" cy="2112941"/>
          </a:xfrm>
          <a:custGeom>
            <a:avLst/>
            <a:gdLst/>
            <a:ahLst/>
            <a:cxnLst/>
            <a:rect r="r" b="b" t="t" l="l"/>
            <a:pathLst>
              <a:path h="2112941" w="2611500">
                <a:moveTo>
                  <a:pt x="0" y="0"/>
                </a:moveTo>
                <a:lnTo>
                  <a:pt x="2611500" y="0"/>
                </a:lnTo>
                <a:lnTo>
                  <a:pt x="2611500" y="2112940"/>
                </a:lnTo>
                <a:lnTo>
                  <a:pt x="0" y="211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28127" y="4808476"/>
            <a:ext cx="10472702" cy="5690168"/>
          </a:xfrm>
          <a:custGeom>
            <a:avLst/>
            <a:gdLst/>
            <a:ahLst/>
            <a:cxnLst/>
            <a:rect r="r" b="b" t="t" l="l"/>
            <a:pathLst>
              <a:path h="5690168" w="10472702">
                <a:moveTo>
                  <a:pt x="0" y="0"/>
                </a:moveTo>
                <a:lnTo>
                  <a:pt x="10472702" y="0"/>
                </a:lnTo>
                <a:lnTo>
                  <a:pt x="10472702" y="5690168"/>
                </a:lnTo>
                <a:lnTo>
                  <a:pt x="0" y="569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21323" y="1415237"/>
            <a:ext cx="13379075" cy="115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  <a:spcBef>
                <a:spcPct val="0"/>
              </a:spcBef>
            </a:pPr>
            <a:r>
              <a:rPr lang="en-US" sz="6753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 Selection &amp; 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1323" y="3712014"/>
            <a:ext cx="12065412" cy="223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4508" indent="-462254" lvl="1">
              <a:lnSpc>
                <a:spcPts val="5994"/>
              </a:lnSpc>
              <a:buFont typeface="Arial"/>
              <a:buChar char="•"/>
            </a:pPr>
            <a:r>
              <a:rPr lang="en-US" sz="4282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Split dataset into train and test sets (80:20).</a:t>
            </a:r>
          </a:p>
          <a:p>
            <a:pPr algn="l" marL="924508" indent="-462254" lvl="1">
              <a:lnSpc>
                <a:spcPts val="5994"/>
              </a:lnSpc>
              <a:buFont typeface="Arial"/>
              <a:buChar char="•"/>
            </a:pPr>
            <a:r>
              <a:rPr lang="en-US" sz="4282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Applied StandardScaler to normalize features.</a:t>
            </a:r>
          </a:p>
          <a:p>
            <a:pPr algn="l" marL="924508" indent="-462254" lvl="1">
              <a:lnSpc>
                <a:spcPts val="5994"/>
              </a:lnSpc>
              <a:buFont typeface="Arial"/>
              <a:buChar char="•"/>
            </a:pPr>
            <a:r>
              <a:rPr lang="en-US" sz="4282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Defined feature set X and label y (Target).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94958" y="8717077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4958" y="920315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6500" y="-329706"/>
            <a:ext cx="2611500" cy="2112941"/>
          </a:xfrm>
          <a:custGeom>
            <a:avLst/>
            <a:gdLst/>
            <a:ahLst/>
            <a:cxnLst/>
            <a:rect r="r" b="b" t="t" l="l"/>
            <a:pathLst>
              <a:path h="2112941" w="2611500">
                <a:moveTo>
                  <a:pt x="0" y="0"/>
                </a:moveTo>
                <a:lnTo>
                  <a:pt x="2611500" y="0"/>
                </a:lnTo>
                <a:lnTo>
                  <a:pt x="2611500" y="2112940"/>
                </a:lnTo>
                <a:lnTo>
                  <a:pt x="0" y="211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28127" y="4808476"/>
            <a:ext cx="10472702" cy="5690168"/>
          </a:xfrm>
          <a:custGeom>
            <a:avLst/>
            <a:gdLst/>
            <a:ahLst/>
            <a:cxnLst/>
            <a:rect r="r" b="b" t="t" l="l"/>
            <a:pathLst>
              <a:path h="5690168" w="10472702">
                <a:moveTo>
                  <a:pt x="0" y="0"/>
                </a:moveTo>
                <a:lnTo>
                  <a:pt x="10472702" y="0"/>
                </a:lnTo>
                <a:lnTo>
                  <a:pt x="10472702" y="5690168"/>
                </a:lnTo>
                <a:lnTo>
                  <a:pt x="0" y="569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21323" y="1424762"/>
            <a:ext cx="12189049" cy="11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  <a:spcBef>
                <a:spcPct val="0"/>
              </a:spcBef>
            </a:pPr>
            <a:r>
              <a:rPr lang="en-US" sz="648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Machine Learning 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0873" y="3366135"/>
            <a:ext cx="14558724" cy="347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Logistic Regression – Baseline model for binary classification.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K-Nearest Neighbors (KNN) – Distance-based learning.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Support Vector Machine (SVM) – Finds optimal decision boundary.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Decision Tree Classifier – Interpretable tree-based model.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Random Forest Classifier – Ensemble of decision trees for better accuracy.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XGBoost Classifier – Gradient boosting algorithm for high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94958" y="8729739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4958" y="920315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6500" y="-329706"/>
            <a:ext cx="2611500" cy="2112941"/>
          </a:xfrm>
          <a:custGeom>
            <a:avLst/>
            <a:gdLst/>
            <a:ahLst/>
            <a:cxnLst/>
            <a:rect r="r" b="b" t="t" l="l"/>
            <a:pathLst>
              <a:path h="2112941" w="2611500">
                <a:moveTo>
                  <a:pt x="0" y="0"/>
                </a:moveTo>
                <a:lnTo>
                  <a:pt x="2611500" y="0"/>
                </a:lnTo>
                <a:lnTo>
                  <a:pt x="2611500" y="2112940"/>
                </a:lnTo>
                <a:lnTo>
                  <a:pt x="0" y="211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28127" y="4808476"/>
            <a:ext cx="10472702" cy="5690168"/>
          </a:xfrm>
          <a:custGeom>
            <a:avLst/>
            <a:gdLst/>
            <a:ahLst/>
            <a:cxnLst/>
            <a:rect r="r" b="b" t="t" l="l"/>
            <a:pathLst>
              <a:path h="5690168" w="10472702">
                <a:moveTo>
                  <a:pt x="0" y="0"/>
                </a:moveTo>
                <a:lnTo>
                  <a:pt x="10472702" y="0"/>
                </a:lnTo>
                <a:lnTo>
                  <a:pt x="10472702" y="5690168"/>
                </a:lnTo>
                <a:lnTo>
                  <a:pt x="0" y="569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61065" y="3050735"/>
            <a:ext cx="5547200" cy="5485105"/>
          </a:xfrm>
          <a:custGeom>
            <a:avLst/>
            <a:gdLst/>
            <a:ahLst/>
            <a:cxnLst/>
            <a:rect r="r" b="b" t="t" l="l"/>
            <a:pathLst>
              <a:path h="5485105" w="5547200">
                <a:moveTo>
                  <a:pt x="0" y="0"/>
                </a:moveTo>
                <a:lnTo>
                  <a:pt x="5547200" y="0"/>
                </a:lnTo>
                <a:lnTo>
                  <a:pt x="5547200" y="5485105"/>
                </a:lnTo>
                <a:lnTo>
                  <a:pt x="0" y="5485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21323" y="1424762"/>
            <a:ext cx="12855177" cy="11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  <a:spcBef>
                <a:spcPct val="0"/>
              </a:spcBef>
            </a:pPr>
            <a:r>
              <a:rPr lang="en-US" sz="648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 Evaluation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94958" y="8729739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4958" y="920315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6500" y="-329706"/>
            <a:ext cx="2611500" cy="2112941"/>
          </a:xfrm>
          <a:custGeom>
            <a:avLst/>
            <a:gdLst/>
            <a:ahLst/>
            <a:cxnLst/>
            <a:rect r="r" b="b" t="t" l="l"/>
            <a:pathLst>
              <a:path h="2112941" w="2611500">
                <a:moveTo>
                  <a:pt x="0" y="0"/>
                </a:moveTo>
                <a:lnTo>
                  <a:pt x="2611500" y="0"/>
                </a:lnTo>
                <a:lnTo>
                  <a:pt x="2611500" y="2112940"/>
                </a:lnTo>
                <a:lnTo>
                  <a:pt x="0" y="211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28127" y="4808476"/>
            <a:ext cx="10472702" cy="5690168"/>
          </a:xfrm>
          <a:custGeom>
            <a:avLst/>
            <a:gdLst/>
            <a:ahLst/>
            <a:cxnLst/>
            <a:rect r="r" b="b" t="t" l="l"/>
            <a:pathLst>
              <a:path h="5690168" w="10472702">
                <a:moveTo>
                  <a:pt x="0" y="0"/>
                </a:moveTo>
                <a:lnTo>
                  <a:pt x="10472702" y="0"/>
                </a:lnTo>
                <a:lnTo>
                  <a:pt x="10472702" y="5690168"/>
                </a:lnTo>
                <a:lnTo>
                  <a:pt x="0" y="569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5848" y="2830250"/>
            <a:ext cx="6761749" cy="6246166"/>
          </a:xfrm>
          <a:custGeom>
            <a:avLst/>
            <a:gdLst/>
            <a:ahLst/>
            <a:cxnLst/>
            <a:rect r="r" b="b" t="t" l="l"/>
            <a:pathLst>
              <a:path h="6246166" w="6761749">
                <a:moveTo>
                  <a:pt x="0" y="0"/>
                </a:moveTo>
                <a:lnTo>
                  <a:pt x="6761749" y="0"/>
                </a:lnTo>
                <a:lnTo>
                  <a:pt x="6761749" y="6246166"/>
                </a:lnTo>
                <a:lnTo>
                  <a:pt x="0" y="62461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5899" y="2830250"/>
            <a:ext cx="7529793" cy="5899488"/>
          </a:xfrm>
          <a:custGeom>
            <a:avLst/>
            <a:gdLst/>
            <a:ahLst/>
            <a:cxnLst/>
            <a:rect r="r" b="b" t="t" l="l"/>
            <a:pathLst>
              <a:path h="5899488" w="7529793">
                <a:moveTo>
                  <a:pt x="0" y="0"/>
                </a:moveTo>
                <a:lnTo>
                  <a:pt x="7529793" y="0"/>
                </a:lnTo>
                <a:lnTo>
                  <a:pt x="7529793" y="5899489"/>
                </a:lnTo>
                <a:lnTo>
                  <a:pt x="0" y="58994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6" t="0" r="-1144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21323" y="1424762"/>
            <a:ext cx="12855177" cy="11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  <a:spcBef>
                <a:spcPct val="0"/>
              </a:spcBef>
            </a:pPr>
            <a:r>
              <a:rPr lang="en-US" sz="648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Deployment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94958" y="8729739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4958" y="920315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6500" y="-329706"/>
            <a:ext cx="2611500" cy="2112941"/>
          </a:xfrm>
          <a:custGeom>
            <a:avLst/>
            <a:gdLst/>
            <a:ahLst/>
            <a:cxnLst/>
            <a:rect r="r" b="b" t="t" l="l"/>
            <a:pathLst>
              <a:path h="2112941" w="2611500">
                <a:moveTo>
                  <a:pt x="0" y="0"/>
                </a:moveTo>
                <a:lnTo>
                  <a:pt x="2611500" y="0"/>
                </a:lnTo>
                <a:lnTo>
                  <a:pt x="2611500" y="2112940"/>
                </a:lnTo>
                <a:lnTo>
                  <a:pt x="0" y="211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28127" y="4808476"/>
            <a:ext cx="10472702" cy="5690168"/>
          </a:xfrm>
          <a:custGeom>
            <a:avLst/>
            <a:gdLst/>
            <a:ahLst/>
            <a:cxnLst/>
            <a:rect r="r" b="b" t="t" l="l"/>
            <a:pathLst>
              <a:path h="5690168" w="10472702">
                <a:moveTo>
                  <a:pt x="0" y="0"/>
                </a:moveTo>
                <a:lnTo>
                  <a:pt x="10472702" y="0"/>
                </a:lnTo>
                <a:lnTo>
                  <a:pt x="10472702" y="5690168"/>
                </a:lnTo>
                <a:lnTo>
                  <a:pt x="0" y="569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21323" y="1424762"/>
            <a:ext cx="12855177" cy="11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  <a:spcBef>
                <a:spcPct val="0"/>
              </a:spcBef>
            </a:pPr>
            <a:r>
              <a:rPr lang="en-US" sz="648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1323" y="3173365"/>
            <a:ext cx="14437977" cy="478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4889" indent="-487444" lvl="1">
              <a:lnSpc>
                <a:spcPts val="6321"/>
              </a:lnSpc>
              <a:buFont typeface="Arial"/>
              <a:buChar char="•"/>
            </a:pPr>
            <a:r>
              <a:rPr lang="en-US" sz="451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Rand</a:t>
            </a:r>
            <a:r>
              <a:rPr lang="en-US" sz="451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om Forest achieved the best accuracy (~87%) for predicting heart disease.</a:t>
            </a:r>
          </a:p>
          <a:p>
            <a:pPr algn="l" marL="974889" indent="-487444" lvl="1">
              <a:lnSpc>
                <a:spcPts val="6321"/>
              </a:lnSpc>
              <a:buFont typeface="Arial"/>
              <a:buChar char="•"/>
            </a:pPr>
            <a:r>
              <a:rPr lang="en-US" sz="451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Key predictors: age, chest pain type, max heart rate, and ST depression.</a:t>
            </a:r>
          </a:p>
          <a:p>
            <a:pPr algn="l" marL="974889" indent="-487444" lvl="1">
              <a:lnSpc>
                <a:spcPts val="6321"/>
              </a:lnSpc>
              <a:buFont typeface="Arial"/>
              <a:buChar char="•"/>
            </a:pPr>
            <a:r>
              <a:rPr lang="en-US" sz="451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model shows strong potential for early heart disease detection.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4958" y="920315"/>
            <a:ext cx="2182380" cy="648054"/>
          </a:xfrm>
          <a:custGeom>
            <a:avLst/>
            <a:gdLst/>
            <a:ahLst/>
            <a:cxnLst/>
            <a:rect r="r" b="b" t="t" l="l"/>
            <a:pathLst>
              <a:path h="648054" w="2182380">
                <a:moveTo>
                  <a:pt x="0" y="0"/>
                </a:moveTo>
                <a:lnTo>
                  <a:pt x="2182380" y="0"/>
                </a:lnTo>
                <a:lnTo>
                  <a:pt x="2182380" y="648054"/>
                </a:lnTo>
                <a:lnTo>
                  <a:pt x="0" y="648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94958" y="8729739"/>
            <a:ext cx="2647316" cy="2141919"/>
          </a:xfrm>
          <a:custGeom>
            <a:avLst/>
            <a:gdLst/>
            <a:ahLst/>
            <a:cxnLst/>
            <a:rect r="r" b="b" t="t" l="l"/>
            <a:pathLst>
              <a:path h="2141919" w="2647316">
                <a:moveTo>
                  <a:pt x="2647316" y="2141919"/>
                </a:moveTo>
                <a:lnTo>
                  <a:pt x="0" y="2141919"/>
                </a:lnTo>
                <a:lnTo>
                  <a:pt x="0" y="0"/>
                </a:lnTo>
                <a:lnTo>
                  <a:pt x="2647316" y="0"/>
                </a:lnTo>
                <a:lnTo>
                  <a:pt x="2647316" y="214191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67843" y="-329706"/>
            <a:ext cx="3720157" cy="3009945"/>
          </a:xfrm>
          <a:custGeom>
            <a:avLst/>
            <a:gdLst/>
            <a:ahLst/>
            <a:cxnLst/>
            <a:rect r="r" b="b" t="t" l="l"/>
            <a:pathLst>
              <a:path h="3009945" w="3720157">
                <a:moveTo>
                  <a:pt x="0" y="0"/>
                </a:moveTo>
                <a:lnTo>
                  <a:pt x="3720157" y="0"/>
                </a:lnTo>
                <a:lnTo>
                  <a:pt x="3720157" y="3009945"/>
                </a:lnTo>
                <a:lnTo>
                  <a:pt x="0" y="30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20672" y="4627906"/>
            <a:ext cx="10689646" cy="5808041"/>
          </a:xfrm>
          <a:custGeom>
            <a:avLst/>
            <a:gdLst/>
            <a:ahLst/>
            <a:cxnLst/>
            <a:rect r="r" b="b" t="t" l="l"/>
            <a:pathLst>
              <a:path h="5808041" w="10689646">
                <a:moveTo>
                  <a:pt x="0" y="0"/>
                </a:moveTo>
                <a:lnTo>
                  <a:pt x="10689646" y="0"/>
                </a:lnTo>
                <a:lnTo>
                  <a:pt x="10689646" y="5808041"/>
                </a:lnTo>
                <a:lnTo>
                  <a:pt x="0" y="5808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10758" y="4525501"/>
            <a:ext cx="8448542" cy="143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5"/>
              </a:lnSpc>
            </a:pPr>
            <a:r>
              <a:rPr lang="en-US" sz="10787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22866" y="920315"/>
            <a:ext cx="8921134" cy="8446371"/>
          </a:xfrm>
          <a:custGeom>
            <a:avLst/>
            <a:gdLst/>
            <a:ahLst/>
            <a:cxnLst/>
            <a:rect r="r" b="b" t="t" l="l"/>
            <a:pathLst>
              <a:path h="8446371" w="8921134">
                <a:moveTo>
                  <a:pt x="0" y="0"/>
                </a:moveTo>
                <a:lnTo>
                  <a:pt x="8921134" y="0"/>
                </a:lnTo>
                <a:lnTo>
                  <a:pt x="8921134" y="8446370"/>
                </a:lnTo>
                <a:lnTo>
                  <a:pt x="0" y="84463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DAGzmH6yv8s</dc:identifier>
  <dcterms:modified xsi:type="dcterms:W3CDTF">2011-08-01T06:04:30Z</dcterms:modified>
  <cp:revision>1</cp:revision>
  <dc:title>Blue Simple Modern Geometric Project Presentation</dc:title>
</cp:coreProperties>
</file>